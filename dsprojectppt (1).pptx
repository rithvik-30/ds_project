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6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1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notesSlide" Target="../notesSlides/notesSlide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8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E9AA7">
              <a:alpha val="30000"/>
            </a:srgbClr>
          </a:solidFill>
          <a:ln w="12700">
            <a:solidFill>
              <a:srgbClr val="0E9AA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CSE | JAVA PROJECT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78638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To-Do List Manager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C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Console-Based Task Management System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A8C7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Java Data Structures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822960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913632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Yaswanth Kumar   —   2510030264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Kotta </a:t>
            </a:r>
            <a:r>
              <a:rPr lang="en-US" sz="13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SaiSrinath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—   2510030261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Vuppala Rithvik       —   2510030126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A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by: </a:t>
            </a:r>
            <a:r>
              <a:rPr lang="en-IN" altLang="en-US" sz="1100" i="1" dirty="0">
                <a:solidFill>
                  <a:srgbClr val="7AA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Dr.Mahesh Babu</a:t>
            </a:r>
            <a:r>
              <a:rPr lang="en-US" sz="1100" i="1" dirty="0">
                <a:solidFill>
                  <a:srgbClr val="7AA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KLH University</a:t>
            </a:r>
            <a:endParaRPr lang="en-US" sz="1100" dirty="0"/>
          </a:p>
        </p:txBody>
      </p:sp>
      <p:pic>
        <p:nvPicPr>
          <p:cNvPr id="15" name="Picture 14" descr="kl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3950" y="6802755"/>
            <a:ext cx="2076450" cy="1409700"/>
          </a:xfrm>
          <a:prstGeom prst="rect">
            <a:avLst/>
          </a:prstGeom>
        </p:spPr>
      </p:pic>
      <p:pic>
        <p:nvPicPr>
          <p:cNvPr id="17" name="Picture 16" descr="kl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0950" y="6929755"/>
            <a:ext cx="2076450" cy="1409700"/>
          </a:xfrm>
          <a:prstGeom prst="rect">
            <a:avLst/>
          </a:prstGeom>
        </p:spPr>
      </p:pic>
      <p:pic>
        <p:nvPicPr>
          <p:cNvPr id="18" name="Picture 17" descr="kl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7950" y="7056755"/>
            <a:ext cx="2076450" cy="1409700"/>
          </a:xfrm>
          <a:prstGeom prst="rect">
            <a:avLst/>
          </a:prstGeom>
        </p:spPr>
      </p:pic>
      <p:pic>
        <p:nvPicPr>
          <p:cNvPr id="19" name="Picture 18" descr="klh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7620"/>
            <a:ext cx="207645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51560"/>
            <a:ext cx="64008" cy="15727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 What is it?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console-based multi-user task manager implemented in Java, letting users create, track, prioritize and complete daily tasks efficiently.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64008" cy="15727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4300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Problem Solved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50876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Eliminates manual task tracking chaos by providing a structured system with priority handling, scheduling and persistent file-based storage.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34640"/>
            <a:ext cx="64008" cy="15727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Tech 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Java · Linked Lists · Stack (Undo) · Queue (Scheduling) · File I/O for persistence · Multi-user session handling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690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64008" cy="15727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2608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 Users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2918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user gets a unique numeric ID. Data is isolated per user, loaded at login, and saved automatically after every action.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BB8"/>
                </a:solidFill>
              </a:rPr>
              <a:t>KLH University  |  To-Do List Manager</a:t>
            </a:r>
            <a:endParaRPr lang="en-US" sz="900" dirty="0"/>
          </a:p>
        </p:txBody>
      </p:sp>
      <p:pic>
        <p:nvPicPr>
          <p:cNvPr id="25" name="Picture 24"/>
          <p:cNvPicPr/>
          <p:nvPr/>
        </p:nvPicPr>
        <p:blipFill>
          <a:blip r:embed="rId3"/>
          <a:stretch>
            <a:fillRect/>
          </a:stretch>
        </p:blipFill>
        <p:spPr>
          <a:xfrm>
            <a:off x="7991475" y="0"/>
            <a:ext cx="115316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&amp; ARCHITECTURE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320040" y="960120"/>
          <a:ext cx="5394960" cy="204825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Usage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Singly Linked List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Active tasks list, High-priority list, Completed tasks list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Stack 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Undo last-completed operation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Queue (LinkedList)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Task scheduling &amp; execution order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File I/O (FileReader/Writer)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Persistent multi-user data storage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960120"/>
            <a:ext cx="2926080" cy="2286000"/>
          </a:xfrm>
          <a:prstGeom prst="rect">
            <a:avLst/>
          </a:prstGeom>
          <a:solidFill>
            <a:srgbClr val="0D1B2A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960120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9AA7"/>
                </a:solidFill>
              </a:rPr>
              <a:t>CLASS DIAGRAM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1353312"/>
            <a:ext cx="2423160" cy="548640"/>
          </a:xfrm>
          <a:prstGeom prst="rect">
            <a:avLst/>
          </a:prstGeom>
          <a:solidFill>
            <a:srgbClr val="1A355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1353312"/>
            <a:ext cx="2423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Task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─────────────────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userId, id, name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priority, deadline, next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388352" y="1901952"/>
            <a:ext cx="0" cy="256032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0" y="2121408"/>
            <a:ext cx="32918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9AA7"/>
                </a:solidFill>
              </a:rPr>
              <a:t>▼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72200" y="2286000"/>
            <a:ext cx="2423160" cy="713232"/>
          </a:xfrm>
          <a:prstGeom prst="rect">
            <a:avLst/>
          </a:prstGeom>
          <a:solidFill>
            <a:srgbClr val="1A3550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286000"/>
            <a:ext cx="24231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TaskManager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──────────────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activehead, highhead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completedhead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undoStack, executionQueue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20040" y="3383280"/>
            <a:ext cx="8503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" y="3383280"/>
            <a:ext cx="8503920" cy="3017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383280"/>
            <a:ext cx="85039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EXECUTION FLOW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146304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7490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Login / Register User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920240" y="3749040"/>
            <a:ext cx="2011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121408" y="3749040"/>
            <a:ext cx="1463040" cy="457200"/>
          </a:xfrm>
          <a:prstGeom prst="rect">
            <a:avLst/>
          </a:prstGeom>
          <a:solidFill>
            <a:srgbClr val="0C8290"/>
          </a:solidFill>
          <a:ln w="12700">
            <a:solidFill>
              <a:srgbClr val="0C82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21408" y="37490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Load tasks.txt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584448" y="3749040"/>
            <a:ext cx="2011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785616" y="3749040"/>
            <a:ext cx="1463040" cy="457200"/>
          </a:xfrm>
          <a:prstGeom prst="rect">
            <a:avLst/>
          </a:prstGeom>
          <a:solidFill>
            <a:srgbClr val="0A6E7A"/>
          </a:solidFill>
          <a:ln w="12700">
            <a:solidFill>
              <a:srgbClr val="0A6E7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85616" y="37490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Menu Selection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248656" y="3749040"/>
            <a:ext cx="2011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49824" y="3749040"/>
            <a:ext cx="1463040" cy="457200"/>
          </a:xfrm>
          <a:prstGeom prst="rect">
            <a:avLst/>
          </a:prstGeom>
          <a:solidFill>
            <a:srgbClr val="086068"/>
          </a:solidFill>
          <a:ln w="12700">
            <a:solidFill>
              <a:srgbClr val="08606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9824" y="37490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Execute Operation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912864" y="3749040"/>
            <a:ext cx="2011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114032" y="3749040"/>
            <a:ext cx="1463040" cy="457200"/>
          </a:xfrm>
          <a:prstGeom prst="rect">
            <a:avLst/>
          </a:prstGeom>
          <a:solidFill>
            <a:srgbClr val="065055"/>
          </a:solidFill>
          <a:ln w="12700">
            <a:solidFill>
              <a:srgbClr val="0650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14032" y="37490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Auto-Save to File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BB8"/>
                </a:solidFill>
              </a:rPr>
              <a:t>KLH University  |  To-Do List Manager</a:t>
            </a:r>
            <a:endParaRPr lang="en-US" sz="900" dirty="0"/>
          </a:p>
        </p:txBody>
      </p:sp>
      <p:pic>
        <p:nvPicPr>
          <p:cNvPr id="35" name="Picture 34"/>
          <p:cNvPicPr/>
          <p:nvPr/>
        </p:nvPicPr>
        <p:blipFill>
          <a:blip r:embed="rId3"/>
          <a:stretch>
            <a:fillRect/>
          </a:stretch>
        </p:blipFill>
        <p:spPr>
          <a:xfrm>
            <a:off x="7943850" y="0"/>
            <a:ext cx="1200150" cy="763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715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274320" y="9601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384048" y="1069848"/>
            <a:ext cx="420624" cy="42062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384048" y="1069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868680" y="1069848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Multi-User Support</a:t>
            </a:r>
            <a:endParaRPr lang="en-US" sz="1100" dirty="0"/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384048" y="1554480"/>
            <a:ext cx="2496312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user gets a unique ID stored in users.txt. Sessions are isolated — tasks load/save only for the active user.</a:t>
            </a:r>
            <a:endParaRPr lang="en-US" sz="950" dirty="0"/>
          </a:p>
        </p:txBody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3164205" y="987425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IN" altLang="en-US"/>
              <a:t>CCC</a:t>
            </a: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3264408" y="1069848"/>
            <a:ext cx="420624" cy="42062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3264408" y="1069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7548245" y="-796925"/>
            <a:ext cx="1746250" cy="2317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Management</a:t>
            </a:r>
            <a:endParaRPr lang="en-US" sz="1100" dirty="0"/>
          </a:p>
        </p:txBody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3264408" y="1554480"/>
            <a:ext cx="2496312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Tasks classified as High, Medium, or Low. A separate highhead linked list tracks high-priority tasks for instant access.</a:t>
            </a:r>
            <a:endParaRPr lang="en-US" sz="950" dirty="0"/>
          </a:p>
        </p:txBody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6035040" y="9601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2"/>
            </p:custDataLst>
          </p:nvPr>
        </p:nvSpPr>
        <p:spPr>
          <a:xfrm>
            <a:off x="6144768" y="1069848"/>
            <a:ext cx="420624" cy="42062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3"/>
            </p:custDataLst>
          </p:nvPr>
        </p:nvSpPr>
        <p:spPr>
          <a:xfrm>
            <a:off x="6144768" y="1069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6629400" y="1069848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Undo Functionality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6144768" y="1554480"/>
            <a:ext cx="2496312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Completed tasks are pushed onto an undo Stack. One click restores the last completed task back to the active list.</a:t>
            </a:r>
            <a:endParaRPr lang="en-US" sz="950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274320" y="28803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384048" y="2990088"/>
            <a:ext cx="420624" cy="42062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384048" y="29900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>
            <p:custDataLst>
              <p:tags r:id="rId19"/>
            </p:custDataLst>
          </p:nvPr>
        </p:nvSpPr>
        <p:spPr>
          <a:xfrm>
            <a:off x="868680" y="2990088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Scheduling</a:t>
            </a:r>
            <a:endParaRPr lang="en-US" sz="1100" dirty="0"/>
          </a:p>
        </p:txBody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384048" y="3474720"/>
            <a:ext cx="2496312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Priority-sorted using bubble sort, then tasks are enqueued into a Queue for sequential execution in priority order.</a:t>
            </a:r>
            <a:endParaRPr lang="en-US" sz="950" dirty="0"/>
          </a:p>
        </p:txBody>
      </p:sp>
      <p:sp>
        <p:nvSpPr>
          <p:cNvPr id="27" name="Shape 25"/>
          <p:cNvSpPr/>
          <p:nvPr>
            <p:custDataLst>
              <p:tags r:id="rId21"/>
            </p:custDataLst>
          </p:nvPr>
        </p:nvSpPr>
        <p:spPr>
          <a:xfrm>
            <a:off x="3154680" y="28803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>
            <p:custDataLst>
              <p:tags r:id="rId22"/>
            </p:custDataLst>
          </p:nvPr>
        </p:nvSpPr>
        <p:spPr>
          <a:xfrm>
            <a:off x="3264408" y="2990088"/>
            <a:ext cx="420624" cy="42062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3"/>
            </p:custDataLst>
          </p:nvPr>
        </p:nvSpPr>
        <p:spPr>
          <a:xfrm>
            <a:off x="3264408" y="29900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3749040" y="2990088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&amp; Filter</a:t>
            </a:r>
            <a:endParaRPr lang="en-US" sz="1100" dirty="0"/>
          </a:p>
        </p:txBody>
      </p:sp>
      <p:sp>
        <p:nvSpPr>
          <p:cNvPr id="31" name="Text 29"/>
          <p:cNvSpPr/>
          <p:nvPr>
            <p:custDataLst>
              <p:tags r:id="rId25"/>
            </p:custDataLst>
          </p:nvPr>
        </p:nvSpPr>
        <p:spPr>
          <a:xfrm>
            <a:off x="3264408" y="3474720"/>
            <a:ext cx="2496312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active tasks by Task ID, exact Name, or Priority group. Returns instant results from the linked list traversal.</a:t>
            </a:r>
            <a:endParaRPr lang="en-US" sz="950" dirty="0"/>
          </a:p>
        </p:txBody>
      </p:sp>
      <p:sp>
        <p:nvSpPr>
          <p:cNvPr id="32" name="Shape 30"/>
          <p:cNvSpPr/>
          <p:nvPr>
            <p:custDataLst>
              <p:tags r:id="rId26"/>
            </p:custDataLst>
          </p:nvPr>
        </p:nvSpPr>
        <p:spPr>
          <a:xfrm>
            <a:off x="6035040" y="288036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>
            <p:custDataLst>
              <p:tags r:id="rId27"/>
            </p:custDataLst>
          </p:nvPr>
        </p:nvSpPr>
        <p:spPr>
          <a:xfrm>
            <a:off x="6144768" y="2990088"/>
            <a:ext cx="420624" cy="42062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4" name="Text 32"/>
          <p:cNvSpPr/>
          <p:nvPr>
            <p:custDataLst>
              <p:tags r:id="rId28"/>
            </p:custDataLst>
          </p:nvPr>
        </p:nvSpPr>
        <p:spPr>
          <a:xfrm>
            <a:off x="6144768" y="299008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>
            <p:custDataLst>
              <p:tags r:id="rId29"/>
            </p:custDataLst>
          </p:nvPr>
        </p:nvSpPr>
        <p:spPr>
          <a:xfrm>
            <a:off x="6629400" y="2990088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Persistent Storage</a:t>
            </a:r>
            <a:endParaRPr lang="en-US" sz="1100" dirty="0"/>
          </a:p>
        </p:txBody>
      </p:sp>
      <p:sp>
        <p:nvSpPr>
          <p:cNvPr id="36" name="Text 34"/>
          <p:cNvSpPr/>
          <p:nvPr>
            <p:custDataLst>
              <p:tags r:id="rId30"/>
            </p:custDataLst>
          </p:nvPr>
        </p:nvSpPr>
        <p:spPr>
          <a:xfrm>
            <a:off x="6144768" y="3474720"/>
            <a:ext cx="2496312" cy="10241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changes auto-saved to tasks.txt in CSV format. Other users' data is preserved during read-modify-write operations.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BB8"/>
                </a:solidFill>
              </a:rPr>
              <a:t>KLH University  |  To-Do List Manager</a:t>
            </a:r>
            <a:endParaRPr lang="en-US" sz="900" dirty="0"/>
          </a:p>
        </p:txBody>
      </p:sp>
      <p:pic>
        <p:nvPicPr>
          <p:cNvPr id="39" name="Picture 38"/>
          <p:cNvPicPr/>
          <p:nvPr/>
        </p:nvPicPr>
        <p:blipFill>
          <a:blip r:embed="rId33">
            <a:lum contrast="-6000"/>
          </a:blip>
          <a:stretch>
            <a:fillRect/>
          </a:stretch>
        </p:blipFill>
        <p:spPr>
          <a:xfrm>
            <a:off x="7846060" y="0"/>
            <a:ext cx="1297940" cy="777240"/>
          </a:xfrm>
          <a:prstGeom prst="rect">
            <a:avLst/>
          </a:prstGeom>
        </p:spPr>
      </p:pic>
      <p:sp>
        <p:nvSpPr>
          <p:cNvPr id="40" name="Text Box 39"/>
          <p:cNvSpPr txBox="1"/>
          <p:nvPr/>
        </p:nvSpPr>
        <p:spPr>
          <a:xfrm>
            <a:off x="3749040" y="1156949"/>
            <a:ext cx="3048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1200" b="1" dirty="0"/>
              <a:t>Classifications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OPERATIONS: Add Task &amp; Complete Task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416052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96112"/>
            <a:ext cx="4160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96112"/>
            <a:ext cx="4069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</a:rPr>
              <a:t>📄  addTask() —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243584"/>
            <a:ext cx="4023360" cy="1609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addTask(){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Scanner sc=new Scanner(System.in);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System.out.print("Enter task name: 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String name=sc.next();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System.out.print("Enter priority: 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String priority=sc.next();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System.out.print("Enter deadline: 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int deadline=sc.nextInt();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Task node=new Task(currentUserId,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idGenerator++,name,priority,deadline);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// Append to activehead linked list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// If high priority → also add to highhead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savefile();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9160" y="896112"/>
            <a:ext cx="4160520" cy="2011680"/>
          </a:xfrm>
          <a:prstGeom prst="rect">
            <a:avLst/>
          </a:prstGeom>
          <a:solidFill>
            <a:srgbClr val="11182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96112"/>
            <a:ext cx="4160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96112"/>
            <a:ext cx="4069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</a:rPr>
              <a:t>📄  completeTask(id) —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243584"/>
            <a:ext cx="4023360" cy="16093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completeTask(int id){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Task prev=null;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Task curr=activehead;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// Traverse to find task by ID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while(curr!=null &amp;&amp; curr.id!=id){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prev=curr; curr=curr.next;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if(curr==null){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System.out.println("Not found");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savefile();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999232"/>
            <a:ext cx="859536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99232"/>
            <a:ext cx="8595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999232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▶  Sample Console Output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8321040" cy="12070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Enter task name: SubmitReport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Enter priority(high/medium/low): high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Enter deadline: 28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 added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Enter task ID to complete: 101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 completed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BB8"/>
                </a:solidFill>
              </a:rPr>
              <a:t>KLH University  |  To-Do List Manager</a:t>
            </a:r>
            <a:endParaRPr lang="en-US" sz="900" dirty="0"/>
          </a:p>
        </p:txBody>
      </p:sp>
      <p:pic>
        <p:nvPicPr>
          <p:cNvPr id="21" name="Picture 20"/>
          <p:cNvPicPr/>
          <p:nvPr/>
        </p:nvPicPr>
        <p:blipFill>
          <a:blip r:embed="rId3"/>
          <a:stretch>
            <a:fillRect/>
          </a:stretch>
        </p:blipFill>
        <p:spPr>
          <a:xfrm>
            <a:off x="7654290" y="-1905"/>
            <a:ext cx="1489710" cy="746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</a:ln>
        </p:spPr>
      </p:sp>
      <p:sp>
        <p:nvSpPr>
          <p:cNvPr id="3" name="KLHText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</a:p>
        </p:txBody>
      </p:sp>
      <p:sp>
        <p:nvSpPr>
          <p:cNvPr id="4" name="Heade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3A"/>
          </a:solidFill>
          <a:ln>
            <a:noFill/>
          </a:ln>
        </p:spPr>
      </p:sp>
      <p:sp>
        <p:nvSpPr>
          <p:cNvPr id="5" name="Title"/>
          <p:cNvSpPr/>
          <p:nvPr/>
        </p:nvSpPr>
        <p:spPr>
          <a:xfrm>
            <a:off x="228600" y="91440"/>
            <a:ext cx="8001600" cy="6096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 EXPLANATION: addTask() &amp; completeTask()</a:t>
            </a:r>
          </a:p>
        </p:txBody>
      </p:sp>
      <p:sp>
        <p:nvSpPr>
          <p:cNvPr id="6" name="AddBox"/>
          <p:cNvSpPr/>
          <p:nvPr/>
        </p:nvSpPr>
        <p:spPr>
          <a:xfrm>
            <a:off x="228600" y="868680"/>
            <a:ext cx="4191000" cy="381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AA7"/>
            </a:solidFill>
          </a:ln>
        </p:spPr>
        <p:txBody>
          <a:bodyPr wrap="square" lIns="182880" tIns="182880" rIns="182880" bIns="91440" rtlCol="0" anchor="t"/>
          <a:lstStyle/>
          <a:p>
            <a:pPr algn="l">
              <a:buNone/>
            </a:pPr>
            <a:r>
              <a:rPr lang="en-US" sz="1500" b="1" dirty="0">
                <a:solidFill>
                  <a:srgbClr val="0E9AA7"/>
                </a:solidFill>
              </a:rPr>
              <a:t>addTask() — How It Works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Purpose: </a:t>
            </a:r>
            <a:r>
              <a:rPr lang="en-US" sz="1200" dirty="0">
                <a:solidFill>
                  <a:srgbClr val="444444"/>
                </a:solidFill>
              </a:rPr>
              <a:t>Reads user input and creates a new task node.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1  </a:t>
            </a:r>
            <a:r>
              <a:rPr lang="en-US" sz="1200" dirty="0">
                <a:solidFill>
                  <a:srgbClr val="444444"/>
                </a:solidFill>
              </a:rPr>
              <a:t>Scanner reads task name, priority (high/medium/low), and deadline from console.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2  </a:t>
            </a:r>
            <a:r>
              <a:rPr lang="en-US" sz="1200" dirty="0">
                <a:solidFill>
                  <a:srgbClr val="444444"/>
                </a:solidFill>
              </a:rPr>
              <a:t>A Task node is created with currentUserId and an auto-incremented idGenerator.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3  </a:t>
            </a:r>
            <a:r>
              <a:rPr lang="en-US" sz="1200" dirty="0">
                <a:solidFill>
                  <a:srgbClr val="444444"/>
                </a:solidFill>
              </a:rPr>
              <a:t>Node appended to activehead list. If high priority, also added to highhead for quick access.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4  </a:t>
            </a:r>
            <a:r>
              <a:rPr lang="en-US" sz="1200" dirty="0">
                <a:solidFill>
                  <a:srgbClr val="444444"/>
                </a:solidFill>
              </a:rPr>
              <a:t>savefile() auto-saves to tasks.txt for persistent storage.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DSA Used: </a:t>
            </a:r>
            <a:r>
              <a:rPr lang="en-US" sz="1200" i="1" dirty="0">
                <a:solidFill>
                  <a:srgbClr val="444444"/>
                </a:solidFill>
              </a:rPr>
              <a:t>Singly Linked List — append to tail (O(n) traversal)</a:t>
            </a:r>
          </a:p>
        </p:txBody>
      </p:sp>
      <p:sp>
        <p:nvSpPr>
          <p:cNvPr id="7" name="CompleteBox"/>
          <p:cNvSpPr/>
          <p:nvPr/>
        </p:nvSpPr>
        <p:spPr>
          <a:xfrm>
            <a:off x="4724400" y="868680"/>
            <a:ext cx="4191000" cy="381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AA7"/>
            </a:solidFill>
          </a:ln>
        </p:spPr>
        <p:txBody>
          <a:bodyPr wrap="square" lIns="182880" tIns="182880" rIns="182880" bIns="91440" rtlCol="0" anchor="t"/>
          <a:lstStyle/>
          <a:p>
            <a:pPr algn="l">
              <a:buNone/>
            </a:pPr>
            <a:r>
              <a:rPr lang="en-US" sz="1500" b="1" dirty="0">
                <a:solidFill>
                  <a:srgbClr val="0E9AA7"/>
                </a:solidFill>
              </a:rPr>
              <a:t>completeTask(id) — How It Works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Purpose: </a:t>
            </a:r>
            <a:r>
              <a:rPr lang="en-US" sz="1200" dirty="0">
                <a:solidFill>
                  <a:srgbClr val="444444"/>
                </a:solidFill>
              </a:rPr>
              <a:t>Moves a task from active list to completed list using its ID.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1  </a:t>
            </a:r>
            <a:r>
              <a:rPr lang="en-US" sz="1200" dirty="0">
                <a:solidFill>
                  <a:srgbClr val="444444"/>
                </a:solidFill>
              </a:rPr>
              <a:t>Two pointers (prev, curr) traverse activehead to locate the task by ID.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2  </a:t>
            </a:r>
            <a:r>
              <a:rPr lang="en-US" sz="1200" dirty="0">
                <a:solidFill>
                  <a:srgbClr val="444444"/>
                </a:solidFill>
              </a:rPr>
              <a:t>If not found (curr==null), error is printed and function exits safely.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3  </a:t>
            </a:r>
            <a:r>
              <a:rPr lang="en-US" sz="1200" dirty="0">
                <a:solidFill>
                  <a:srgbClr val="444444"/>
                </a:solidFill>
              </a:rPr>
              <a:t>Node is unlinked from activehead and pushed onto undoStack (Stack) enabling undo.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4  </a:t>
            </a:r>
            <a:r>
              <a:rPr lang="en-US" sz="1200" dirty="0">
                <a:solidFill>
                  <a:srgbClr val="444444"/>
                </a:solidFill>
              </a:rPr>
              <a:t>Task appended to completedhead list. savefile() persists the new state.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DSA Used: </a:t>
            </a:r>
            <a:r>
              <a:rPr lang="en-US" sz="1200" i="1" dirty="0">
                <a:solidFill>
                  <a:srgbClr val="444444"/>
                </a:solidFill>
              </a:rPr>
              <a:t>Two-pointer Linked List deletion + Stack push (O(n) search)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AAAAAA"/>
                </a:solidFill>
              </a:rPr>
              <a:t>KLH University  |  To-Do List Manager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OPERATIONS: Search &amp; Undo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4160520" cy="2121408"/>
          </a:xfrm>
          <a:prstGeom prst="rect">
            <a:avLst/>
          </a:prstGeom>
          <a:solidFill>
            <a:srgbClr val="11182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96112"/>
            <a:ext cx="4160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96112"/>
            <a:ext cx="4069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</a:rPr>
              <a:t>🔍  Search Operations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243584"/>
            <a:ext cx="4023360" cy="1719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searchByID(int id){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ArrayList&lt;Task&gt; list = new ArrayList&lt;&gt;();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Task temp = activehead;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while(temp != null){</a:t>
            </a: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list.add(temp);</a:t>
            </a:r>
            <a:endParaRPr lang="en-US" altLang="en-US" sz="750" dirty="0">
              <a:solidFill>
                <a:srgbClr val="A8D8A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    temp = temp.next;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}</a:t>
            </a:r>
            <a:endParaRPr lang="en-US" altLang="en-US" sz="750" dirty="0">
              <a:solidFill>
                <a:srgbClr val="A8D8A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Collections.sort(list, (a,b) -&gt; Integer.compare(a.id, b.id));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left = 0, right = list.size() - 1;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while(left &lt;= right){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int mid = (left + right) / 2;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if(list.get(mid).id == id){Task t = list.get(mid);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System.out.println("Found " + t.name + " deadline " + t.deadline);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</a:t>
            </a: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eturn;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else if(list.get(mid).id &lt; id)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left = mid + 1;</a:t>
            </a: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else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right = mid - 1;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altLang="en-US" sz="750" dirty="0">
              <a:solidFill>
                <a:srgbClr val="A8D8A8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System.out.println("Task not found");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}}</a:t>
            </a:r>
          </a:p>
        </p:txBody>
      </p:sp>
      <p:sp>
        <p:nvSpPr>
          <p:cNvPr id="11" name="Shape 9"/>
          <p:cNvSpPr/>
          <p:nvPr/>
        </p:nvSpPr>
        <p:spPr>
          <a:xfrm>
            <a:off x="4709160" y="896112"/>
            <a:ext cx="4160520" cy="2121408"/>
          </a:xfrm>
          <a:prstGeom prst="rect">
            <a:avLst/>
          </a:prstGeom>
          <a:solidFill>
            <a:srgbClr val="11182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96112"/>
            <a:ext cx="4160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96112"/>
            <a:ext cx="4069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</a:rPr>
              <a:t>↩  Undo Complete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243584"/>
            <a:ext cx="4023360" cy="17190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undoComplete(){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if(undoStack.isEmpty()){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"Nothing to undo");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Task node=undoStack.pop();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// Re-insert at head of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// activehead list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node.next=activehead;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activehead=node;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System.out.println(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"Undo successful");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8595360" cy="14447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127248"/>
            <a:ext cx="8595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127248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▶  Sample Console Output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419856"/>
            <a:ext cx="8321040" cy="10789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Search by Name: SubmitReport  →  Found ID 101 deadline 28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Search by Priority: high  →  ID:101 Task:SubmitReport  |  ID:103 Task:Meeting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Undo last complete  →  Undo successful  (task moved back to Active)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BB8"/>
                </a:solidFill>
              </a:rPr>
              <a:t>KLH University  |  To-Do List Manager</a:t>
            </a:r>
            <a:endParaRPr lang="en-US" sz="900" dirty="0"/>
          </a:p>
        </p:txBody>
      </p:sp>
      <p:pic>
        <p:nvPicPr>
          <p:cNvPr id="21" name="Picture 20"/>
          <p:cNvPicPr/>
          <p:nvPr/>
        </p:nvPicPr>
        <p:blipFill>
          <a:blip r:embed="rId3"/>
          <a:stretch>
            <a:fillRect/>
          </a:stretch>
        </p:blipFill>
        <p:spPr>
          <a:xfrm>
            <a:off x="7379335" y="-45720"/>
            <a:ext cx="1764665" cy="8369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</a:ln>
        </p:spPr>
      </p:sp>
      <p:sp>
        <p:nvSpPr>
          <p:cNvPr id="3" name="KLHText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</a:p>
        </p:txBody>
      </p:sp>
      <p:sp>
        <p:nvSpPr>
          <p:cNvPr id="4" name="Heade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3A"/>
          </a:solidFill>
          <a:ln>
            <a:noFill/>
          </a:ln>
        </p:spPr>
      </p:sp>
      <p:sp>
        <p:nvSpPr>
          <p:cNvPr id="5" name="Title"/>
          <p:cNvSpPr/>
          <p:nvPr/>
        </p:nvSpPr>
        <p:spPr>
          <a:xfrm>
            <a:off x="228600" y="91440"/>
            <a:ext cx="8001600" cy="6096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 EXPLANATION: Search Operations &amp; undoComplete()</a:t>
            </a:r>
          </a:p>
        </p:txBody>
      </p:sp>
      <p:sp>
        <p:nvSpPr>
          <p:cNvPr id="6" name="SearchBox"/>
          <p:cNvSpPr/>
          <p:nvPr/>
        </p:nvSpPr>
        <p:spPr>
          <a:xfrm>
            <a:off x="228600" y="868680"/>
            <a:ext cx="4191000" cy="381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AA7"/>
            </a:solidFill>
          </a:ln>
        </p:spPr>
        <p:txBody>
          <a:bodyPr wrap="square" lIns="182880" tIns="182880" rIns="182880" bIns="91440" rtlCol="0" anchor="t"/>
          <a:lstStyle/>
          <a:p>
            <a:pPr algn="l">
              <a:buNone/>
            </a:pPr>
            <a:r>
              <a:rPr lang="en-US" sz="1500" b="1" dirty="0">
                <a:solidFill>
                  <a:srgbClr val="0E9AA7"/>
                </a:solidFill>
              </a:rPr>
              <a:t>Search Operations — How They Work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Purpose: </a:t>
            </a:r>
            <a:r>
              <a:rPr lang="en-US" sz="1200" dirty="0">
                <a:solidFill>
                  <a:srgbClr val="444444"/>
                </a:solidFill>
              </a:rPr>
              <a:t>Locate tasks by ID, name, or priority in the active linked list.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searchByID  </a:t>
            </a:r>
            <a:r>
              <a:rPr lang="en-US" sz="1200" dirty="0">
                <a:solidFill>
                  <a:srgbClr val="444444"/>
                </a:solidFill>
              </a:rPr>
              <a:t>A temp pointer starts at activehead and walks each node checking temp.id == id. Returns on first match.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searchByName  </a:t>
            </a:r>
            <a:r>
              <a:rPr lang="en-US" sz="1200" dirty="0">
                <a:solidFill>
                  <a:srgbClr val="444444"/>
                </a:solidFill>
              </a:rPr>
              <a:t>Same traversal pattern but compares temp.name with the input string using .equals().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searchByPriority  </a:t>
            </a:r>
            <a:r>
              <a:rPr lang="en-US" sz="1200" dirty="0">
                <a:solidFill>
                  <a:srgbClr val="444444"/>
                </a:solidFill>
              </a:rPr>
              <a:t>Traverses full list, prints ALL nodes matching the given priority — does not stop early.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DSA Used: </a:t>
            </a:r>
            <a:r>
              <a:rPr lang="en-US" sz="1200" i="1" dirty="0">
                <a:solidFill>
                  <a:srgbClr val="444444"/>
                </a:solidFill>
              </a:rPr>
              <a:t>Linear search on Singly Linked List — O(n) time complexity</a:t>
            </a:r>
          </a:p>
        </p:txBody>
      </p:sp>
      <p:sp>
        <p:nvSpPr>
          <p:cNvPr id="7" name="UndoBox"/>
          <p:cNvSpPr/>
          <p:nvPr/>
        </p:nvSpPr>
        <p:spPr>
          <a:xfrm>
            <a:off x="4724400" y="868680"/>
            <a:ext cx="4191000" cy="381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AA7"/>
            </a:solidFill>
          </a:ln>
        </p:spPr>
        <p:txBody>
          <a:bodyPr wrap="square" lIns="182880" tIns="182880" rIns="182880" bIns="91440" rtlCol="0" anchor="t"/>
          <a:lstStyle/>
          <a:p>
            <a:pPr algn="l">
              <a:buNone/>
            </a:pPr>
            <a:r>
              <a:rPr lang="en-US" sz="1500" b="1" dirty="0">
                <a:solidFill>
                  <a:srgbClr val="0E9AA7"/>
                </a:solidFill>
              </a:rPr>
              <a:t>undoComplete() — How It Works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Purpose: </a:t>
            </a:r>
            <a:r>
              <a:rPr lang="en-US" sz="1200" dirty="0">
                <a:solidFill>
                  <a:srgbClr val="444444"/>
                </a:solidFill>
              </a:rPr>
              <a:t>Reverses the last completed task, moving it back to the active list.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1  </a:t>
            </a:r>
            <a:r>
              <a:rPr lang="en-US" sz="1200" dirty="0">
                <a:solidFill>
                  <a:srgbClr val="444444"/>
                </a:solidFill>
              </a:rPr>
              <a:t>Checks if undoStack is empty. If yes, prints "Nothing to undo" and exits.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2  </a:t>
            </a:r>
            <a:r>
              <a:rPr lang="en-US" sz="1200" dirty="0">
                <a:solidFill>
                  <a:srgbClr val="444444"/>
                </a:solidFill>
              </a:rPr>
              <a:t>undoStack.pop() retrieves the most recently completed task (LIFO order).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3  </a:t>
            </a:r>
            <a:r>
              <a:rPr lang="en-US" sz="1200" dirty="0">
                <a:solidFill>
                  <a:srgbClr val="444444"/>
                </a:solidFill>
              </a:rPr>
              <a:t>The popped node's next pointer is set to activehead, then activehead is updated to the node — O(1) head insertion.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4  </a:t>
            </a:r>
            <a:r>
              <a:rPr lang="en-US" sz="1200" dirty="0">
                <a:solidFill>
                  <a:srgbClr val="444444"/>
                </a:solidFill>
              </a:rPr>
              <a:t>Prints "Undo successful". savefile() persists the restored state.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DSA Used: </a:t>
            </a:r>
            <a:r>
              <a:rPr lang="en-US" sz="1200" i="1" dirty="0">
                <a:solidFill>
                  <a:srgbClr val="444444"/>
                </a:solidFill>
              </a:rPr>
              <a:t>Stack (LIFO) pop + Linked List head insertion — O(1)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AAAAAA"/>
                </a:solidFill>
              </a:rPr>
              <a:t>KLH University  |  To-Do List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OPERATIONS: Schedule, Execute &amp; Display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41605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96112"/>
            <a:ext cx="4160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96112"/>
            <a:ext cx="4069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</a:rPr>
              <a:t>📅  Schedule &amp; Execute Tasks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243584"/>
            <a:ext cx="4023360" cy="1517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scheduleTasks(){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sortByPriority(); // Bubble sort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Task temp=activehead;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while(temp!=null){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executionQueue.add(temp);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temp=temp.next;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executeTasks(){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while(!executionQueue.isEmpty()){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Task t=executionQueue.poll();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System.out.println("Task:"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+t.name+" Priority:"+t.priority);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</a:p>
        </p:txBody>
      </p:sp>
      <p:sp>
        <p:nvSpPr>
          <p:cNvPr id="11" name="Shape 9"/>
          <p:cNvSpPr/>
          <p:nvPr/>
        </p:nvSpPr>
        <p:spPr>
          <a:xfrm>
            <a:off x="4709160" y="896112"/>
            <a:ext cx="41605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96112"/>
            <a:ext cx="4160520" cy="320040"/>
          </a:xfrm>
          <a:prstGeom prst="rect">
            <a:avLst/>
          </a:prstGeom>
          <a:solidFill>
            <a:srgbClr val="1F29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96112"/>
            <a:ext cx="4069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9AA7"/>
                </a:solidFill>
              </a:rPr>
              <a:t>📋  Display Tasks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243584"/>
            <a:ext cx="4023360" cy="15179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display(Task head,String title){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System.out.println("---"+title+"---");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Task temp=head;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if(temp==null){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System.out.println("No tasks");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return;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while(temp!=null){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"ID:"+temp.id</a:t>
            </a: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+" Task:"+temp.name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  +" Priority:"+temp.priority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      +" Deadline:"+temp.deadline);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temp=temp.next;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r>
              <a:rPr lang="en-IN" altLang="en-US" sz="750" dirty="0">
                <a:solidFill>
                  <a:srgbClr val="A8D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859536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92608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▶  Sample Console Output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218688"/>
            <a:ext cx="8321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---ACTIVE---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ID:101 Task:SubmitReport Priority:high Deadline:28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ID:102 Task:ReadBook Priority:low Deadline:30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ID:103 Task:Meeting Priority:medium Deadline:27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Execution order: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Task:SubmitReport Priority:high Deadline:28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Task:Meeting Priority:medium Deadline:27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Task:ReadBook Priority:low Deadline:30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64608"/>
            <a:ext cx="91440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BB8"/>
                </a:solidFill>
              </a:rPr>
              <a:t>KLH University  |  To-Do List Manager</a:t>
            </a:r>
            <a:endParaRPr lang="en-US" sz="900" dirty="0"/>
          </a:p>
        </p:txBody>
      </p:sp>
      <p:pic>
        <p:nvPicPr>
          <p:cNvPr id="21" name="Picture 20"/>
          <p:cNvPicPr/>
          <p:nvPr/>
        </p:nvPicPr>
        <p:blipFill>
          <a:blip r:embed="rId3"/>
          <a:stretch>
            <a:fillRect/>
          </a:stretch>
        </p:blipFill>
        <p:spPr>
          <a:xfrm>
            <a:off x="7517130" y="0"/>
            <a:ext cx="162687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</a:ln>
        </p:spPr>
      </p:sp>
      <p:sp>
        <p:nvSpPr>
          <p:cNvPr id="3" name="KLHText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</a:p>
        </p:txBody>
      </p:sp>
      <p:sp>
        <p:nvSpPr>
          <p:cNvPr id="4" name="Heade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A3A"/>
          </a:solidFill>
          <a:ln>
            <a:noFill/>
          </a:ln>
        </p:spPr>
      </p:sp>
      <p:sp>
        <p:nvSpPr>
          <p:cNvPr id="5" name="Title"/>
          <p:cNvSpPr/>
          <p:nvPr/>
        </p:nvSpPr>
        <p:spPr>
          <a:xfrm>
            <a:off x="228600" y="91440"/>
            <a:ext cx="8001600" cy="6096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 EXPLANATION: Schedule, Execute &amp; Display</a:t>
            </a:r>
          </a:p>
        </p:txBody>
      </p:sp>
      <p:sp>
        <p:nvSpPr>
          <p:cNvPr id="6" name="ScheduleBox"/>
          <p:cNvSpPr/>
          <p:nvPr/>
        </p:nvSpPr>
        <p:spPr>
          <a:xfrm>
            <a:off x="228600" y="868680"/>
            <a:ext cx="4191000" cy="381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AA7"/>
            </a:solidFill>
          </a:ln>
        </p:spPr>
        <p:txBody>
          <a:bodyPr wrap="square" lIns="182880" tIns="182880" rIns="182880" bIns="91440" rtlCol="0" anchor="t"/>
          <a:lstStyle/>
          <a:p>
            <a:pPr algn="l">
              <a:buNone/>
            </a:pPr>
            <a:r>
              <a:rPr lang="en-US" sz="1500" b="1" dirty="0">
                <a:solidFill>
                  <a:srgbClr val="0E9AA7"/>
                </a:solidFill>
              </a:rPr>
              <a:t>scheduleTasks() &amp; executeTasks()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Purpose: </a:t>
            </a:r>
            <a:r>
              <a:rPr lang="en-US" sz="1200" dirty="0">
                <a:solidFill>
                  <a:srgbClr val="444444"/>
                </a:solidFill>
              </a:rPr>
              <a:t>Sort tasks by priority then run them in order using a Queue.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1  </a:t>
            </a:r>
            <a:r>
              <a:rPr lang="en-US" sz="1200" dirty="0">
                <a:solidFill>
                  <a:srgbClr val="444444"/>
                </a:solidFill>
              </a:rPr>
              <a:t>sortByPriority() applies bubble sort on the linked list — high before medium before low.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2  </a:t>
            </a:r>
            <a:r>
              <a:rPr lang="en-US" sz="1200" dirty="0">
                <a:solidFill>
                  <a:srgbClr val="444444"/>
                </a:solidFill>
              </a:rPr>
              <a:t>Each node in activehead is enqueued into executionQueue (LinkedList-based Queue) in sorted order.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3  </a:t>
            </a:r>
            <a:r>
              <a:rPr lang="en-US" sz="1200" dirty="0">
                <a:solidFill>
                  <a:srgbClr val="444444"/>
                </a:solidFill>
              </a:rPr>
              <a:t>executeTasks() calls poll() in a loop — dequeues and prints each task (FIFO) until queue is empty.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DSA Used: </a:t>
            </a:r>
            <a:r>
              <a:rPr lang="en-US" sz="1200" i="1" dirty="0">
                <a:solidFill>
                  <a:srgbClr val="444444"/>
                </a:solidFill>
              </a:rPr>
              <a:t>Bubble Sort on Linked List (O(n^2)) + Queue add/poll (O(1))</a:t>
            </a:r>
          </a:p>
        </p:txBody>
      </p:sp>
      <p:sp>
        <p:nvSpPr>
          <p:cNvPr id="7" name="DisplayBox"/>
          <p:cNvSpPr/>
          <p:nvPr/>
        </p:nvSpPr>
        <p:spPr>
          <a:xfrm>
            <a:off x="4724400" y="868680"/>
            <a:ext cx="4191000" cy="381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9AA7"/>
            </a:solidFill>
          </a:ln>
        </p:spPr>
        <p:txBody>
          <a:bodyPr wrap="square" lIns="182880" tIns="182880" rIns="182880" bIns="91440" rtlCol="0" anchor="t"/>
          <a:lstStyle/>
          <a:p>
            <a:pPr algn="l">
              <a:buNone/>
            </a:pPr>
            <a:r>
              <a:rPr lang="en-US" sz="1500" b="1" dirty="0">
                <a:solidFill>
                  <a:srgbClr val="0E9AA7"/>
                </a:solidFill>
              </a:rPr>
              <a:t>display(head, title) — How It Works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Purpose: </a:t>
            </a:r>
            <a:r>
              <a:rPr lang="en-US" sz="1200" dirty="0">
                <a:solidFill>
                  <a:srgbClr val="444444"/>
                </a:solidFill>
              </a:rPr>
              <a:t>Generic reusable method to print any linked list (active, completed, or high-priority).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1  </a:t>
            </a:r>
            <a:r>
              <a:rPr lang="en-US" sz="1200" dirty="0">
                <a:solidFill>
                  <a:srgbClr val="444444"/>
                </a:solidFill>
              </a:rPr>
              <a:t>Prints the section title (e.g., "---ACTIVE---") to label the output clearly.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2  </a:t>
            </a:r>
            <a:r>
              <a:rPr lang="en-US" sz="1200" dirty="0">
                <a:solidFill>
                  <a:srgbClr val="444444"/>
                </a:solidFill>
              </a:rPr>
              <a:t>Checks if head is null — if so prints "No tasks" and exits to avoid null errors.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Step 3  </a:t>
            </a:r>
            <a:r>
              <a:rPr lang="en-US" sz="1200" dirty="0">
                <a:solidFill>
                  <a:srgbClr val="444444"/>
                </a:solidFill>
              </a:rPr>
              <a:t>A while loop traverses every node, printing ID, name, priority, and deadline for each task.</a:t>
            </a:r>
          </a:p>
          <a:p>
            <a:pPr algn="l">
              <a:buNone/>
            </a:pPr>
            <a:r>
              <a:rPr lang="en-US" sz="1200" b="1" dirty="0">
                <a:solidFill>
                  <a:srgbClr val="0E9AA7"/>
                </a:solidFill>
              </a:rPr>
              <a:t>Reuse  </a:t>
            </a:r>
            <a:r>
              <a:rPr lang="en-US" sz="1200" dirty="0">
                <a:solidFill>
                  <a:srgbClr val="444444"/>
                </a:solidFill>
              </a:rPr>
              <a:t>Called with activehead, completedhead, or highhead — one method handles all three lists.</a:t>
            </a:r>
          </a:p>
          <a:p>
            <a:pPr algn="l">
              <a:buNone/>
            </a:pPr>
            <a:endParaRPr lang="en-US" sz="1100" dirty="0"/>
          </a:p>
          <a:p>
            <a:pPr algn="l">
              <a:buNone/>
            </a:pPr>
            <a:r>
              <a:rPr lang="en-US" sz="1200" b="1" dirty="0">
                <a:solidFill>
                  <a:srgbClr val="1A2A3A"/>
                </a:solidFill>
              </a:rPr>
              <a:t>DSA Used: </a:t>
            </a:r>
            <a:r>
              <a:rPr lang="en-US" sz="1200" i="1" dirty="0">
                <a:solidFill>
                  <a:srgbClr val="444444"/>
                </a:solidFill>
              </a:rPr>
              <a:t>Full Linked List traversal — O(n) time, O(1) space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l">
              <a:buNone/>
            </a:pPr>
            <a:r>
              <a:rPr lang="en-US" sz="1000" dirty="0">
                <a:solidFill>
                  <a:srgbClr val="AAAAAA"/>
                </a:solidFill>
              </a:rPr>
              <a:t>KLH University  |  To-Do List Manager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9728"/>
            <a:ext cx="658368" cy="658368"/>
          </a:xfrm>
          <a:prstGeom prst="ellipse">
            <a:avLst/>
          </a:prstGeom>
          <a:solidFill>
            <a:srgbClr val="0E9AA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0" y="1097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E9A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To-Do List Manager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804672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29968"/>
            <a:ext cx="77724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0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Implements core DSA concepts: Linked Lists, Stack, Queue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0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Multi-user persistent storage with File I/O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0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Undo functionality using Stack — real-world application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0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Extensible foundation for GUI or database integration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315968"/>
            <a:ext cx="804672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407408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AB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Yaswanth · SaiSrinath · Rithvik</a:t>
            </a:r>
            <a:endParaRPr lang="en-US" sz="1200" dirty="0"/>
          </a:p>
        </p:txBody>
      </p:sp>
      <p:pic>
        <p:nvPicPr>
          <p:cNvPr id="13" name="Pictur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471410" y="5715"/>
            <a:ext cx="1611630" cy="9086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8,&quot;left&quot;:21.6,&quot;top&quot;:75.6,&quot;width&quot;:66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2027</Words>
  <Application>Microsoft Office PowerPoint</Application>
  <PresentationFormat>On-screen Show (16:9)</PresentationFormat>
  <Paragraphs>281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To-Do List Manager</dc:title>
  <dc:subject>PptxGenJS Presentation</dc:subject>
  <dc:creator>PptxGenJS</dc:creator>
  <cp:lastModifiedBy>kotta sai srinath</cp:lastModifiedBy>
  <cp:revision>6</cp:revision>
  <dcterms:created xsi:type="dcterms:W3CDTF">2026-03-27T14:09:00Z</dcterms:created>
  <dcterms:modified xsi:type="dcterms:W3CDTF">2026-03-28T04:25:11Z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6C150730BAF64E2A961A72043D4A3720_13</vt:lpwstr>
  </property>
  <property fmtid="{D5CDD505-2E9C-101B-9397-08002B2CF9AE}" pid="3" name="KSOProductBuildVer">
    <vt:lpwstr>1033-12.2.0.23196</vt:lpwstr>
  </property>
</Properties>
</file>